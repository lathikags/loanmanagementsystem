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17" r:id="rId5"/>
    <p:sldId id="308" r:id="rId6"/>
    <p:sldId id="278" r:id="rId7"/>
    <p:sldId id="309" r:id="rId8"/>
    <p:sldId id="263" r:id="rId9"/>
    <p:sldId id="310" r:id="rId10"/>
    <p:sldId id="311" r:id="rId11"/>
    <p:sldId id="316" r:id="rId12"/>
    <p:sldId id="314" r:id="rId13"/>
    <p:sldId id="312" r:id="rId14"/>
    <p:sldId id="315" r:id="rId15"/>
    <p:sldId id="318" r:id="rId16"/>
    <p:sldId id="319" r:id="rId17"/>
    <p:sldId id="320" r:id="rId18"/>
    <p:sldId id="30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95405" autoAdjust="0"/>
  </p:normalViewPr>
  <p:slideViewPr>
    <p:cSldViewPr snapToGrid="0">
      <p:cViewPr>
        <p:scale>
          <a:sx n="100" d="100"/>
          <a:sy n="100" d="100"/>
        </p:scale>
        <p:origin x="135" y="-69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6F577-9FAD-365F-24D2-038773F55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F27F9-8A3A-4038-D7F4-D4C345867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165D4-91D0-9F60-A67E-7832F72E6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92669-4C27-6E86-2DC5-3F30855B4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62458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84249-6356-C073-3117-D4C9BB439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3044A-94F4-4573-24F0-902D379C3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06050D-6D3C-2AD5-CEC5-26BE03C23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12EC7-BFBD-FB4F-6ED0-D6F0511C9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4443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81A91-E4CF-FCB0-0324-867D3585B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37558-81E2-4749-6580-50322C0EB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9C96D2-D020-2753-3ADA-E19A308EA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6C7BE-9137-58C6-3F42-D60671F41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68557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Loan Management System</a:t>
            </a:r>
            <a:br>
              <a:rPr lang="en-US" dirty="0"/>
            </a:br>
            <a:br>
              <a:rPr lang="en-US" dirty="0"/>
            </a:br>
            <a:r>
              <a:rPr lang="en-US" sz="2000" dirty="0"/>
              <a:t>Lathika 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052" y="1"/>
            <a:ext cx="6248400" cy="1130710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B6D4430-004F-8DCF-5E1F-663C48FF15F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29549" r="29549"/>
          <a:stretch>
            <a:fillRect/>
          </a:stretch>
        </p:blipFill>
        <p:spPr/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57C9E0-3607-290B-CDD3-4E01D572772C}"/>
              </a:ext>
            </a:extLst>
          </p:cNvPr>
          <p:cNvSpPr txBox="1"/>
          <p:nvPr/>
        </p:nvSpPr>
        <p:spPr>
          <a:xfrm>
            <a:off x="4257368" y="14551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027F1DB-D887-E779-5E79-308D04FD0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053" y="1406244"/>
            <a:ext cx="6346722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 Loan processing is often manual or semi-automated, causing delays and inefficiencies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 Difficulty in tracking loan applications, approvals, and current status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 Limited visibility into EMI schedules, repayments, and outstanding balances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 Lack of centralized reporting and audit mechanisms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 Security risks in handling sensitive customer financial data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981" y="113071"/>
            <a:ext cx="7442448" cy="783041"/>
          </a:xfrm>
        </p:spPr>
        <p:txBody>
          <a:bodyPr anchor="b"/>
          <a:lstStyle/>
          <a:p>
            <a:r>
              <a:rPr lang="en-US" dirty="0"/>
              <a:t>Proposed Solution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9ECE59-57EE-A7DC-D441-4C056D11C781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5137355" y="828287"/>
            <a:ext cx="6671187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Digitize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loan lifecycle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application to closure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 customers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for loans online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track their status</a:t>
            </a:r>
            <a:endParaRPr lang="en-US" altLang="en-US" sz="2000" cap="non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 loan officers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review, approve, or reject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Automatically generate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EMI schedules and repayment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JWT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dashboards and financial reports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decision-making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AD43E2C8-3AF6-D727-AD49-F00DBF57466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4446" r="244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191730"/>
            <a:ext cx="7534656" cy="717755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0E3B9D-C02B-4C20-8449-17BC7907700C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393290" y="1474965"/>
            <a:ext cx="1096051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B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Loan Management System is a secure full-stack web application developed using ASP.NET Core Web API and Angular.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developed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ASP.NET Core Web API (.NET 9)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Entity Framework 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LINQ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business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Server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for secure and reliable data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JWT-based authentication and role-based authorization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implemented for application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built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Angular (21.0.4)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Angular Material / Bootstrap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RESTful APIs documented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Swagger/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integrated with Angular via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HTTPClient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Interceptors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658" y="108155"/>
            <a:ext cx="10360152" cy="634181"/>
          </a:xfrm>
        </p:spPr>
        <p:txBody>
          <a:bodyPr anchor="b"/>
          <a:lstStyle/>
          <a:p>
            <a:r>
              <a:rPr lang="en-US" dirty="0"/>
              <a:t>Architecture Diagram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3825875"/>
            <a:ext cx="8109772" cy="264477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BDA6C8-7343-F780-DCE0-336778149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997" y="675661"/>
            <a:ext cx="7005570" cy="600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7" y="363794"/>
            <a:ext cx="10360152" cy="914400"/>
          </a:xfrm>
        </p:spPr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8064018-69DA-F0F1-DF24-BC06E4FEA723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363795" y="1853824"/>
            <a:ext cx="573220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 Control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 interfaces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Admin, Loan Officer, and Customer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access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JWT Authentication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Features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 application submission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 status and dashboard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EMI schedules and repayments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 Officer Features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approve/reject loan applications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overdue EMIs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reports dashboard and summaries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594A5DB-C0B2-6083-BE37-D13D3773055B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6357938" y="1576826"/>
            <a:ext cx="5051965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Features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 types and interest rules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and manage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users and pending users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dashboard for system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&amp; Processing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RESTful APIs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ASP.NET Core Web API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Auth, Loan Applications, EMIs, Reports, and Admin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logic implemented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&amp; Security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data storage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Server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ORM handled via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Entity Framework Core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documentation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Swagger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955" y="82297"/>
            <a:ext cx="10360152" cy="914400"/>
          </a:xfrm>
        </p:spPr>
        <p:txBody>
          <a:bodyPr/>
          <a:lstStyle/>
          <a:p>
            <a:r>
              <a:rPr lang="en-US" dirty="0"/>
              <a:t>Database Diagram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3981D09-AA8F-6484-E7A2-CB72951E5AEB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531803" y="1366684"/>
            <a:ext cx="10637642" cy="475228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225" y="223838"/>
            <a:ext cx="10360152" cy="914400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DB94-FC21-07C5-1FC9-E729C5DEDFC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5288" y="2039111"/>
            <a:ext cx="3586161" cy="3840480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Unit testing using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xUnit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for testing the functionality of Backend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API testing with Postman to check all CRUD functionality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Authentication and authorization tests with JWT Bearer Token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8F0F722-04B1-BA75-76BD-34323B08E0F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327526" y="2128359"/>
            <a:ext cx="6950075" cy="2004381"/>
          </a:xfrm>
        </p:spPr>
      </p:pic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LINQ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5419726" cy="3840480"/>
          </a:xfrm>
        </p:spPr>
        <p:txBody>
          <a:bodyPr>
            <a:normAutofit/>
          </a:bodyPr>
          <a:lstStyle/>
          <a:p>
            <a:r>
              <a:rPr lang="en-GB" cap="none" dirty="0">
                <a:latin typeface="Arial" panose="020B0604020202020204" pitchFamily="34" charset="0"/>
                <a:cs typeface="Arial" panose="020B0604020202020204" pitchFamily="34" charset="0"/>
              </a:rPr>
              <a:t>Used LINQ with entity framework core to query database entities</a:t>
            </a:r>
          </a:p>
          <a:p>
            <a:r>
              <a:rPr lang="en-GB" cap="none" dirty="0">
                <a:latin typeface="Arial" panose="020B0604020202020204" pitchFamily="34" charset="0"/>
                <a:cs typeface="Arial" panose="020B0604020202020204" pitchFamily="34" charset="0"/>
              </a:rPr>
              <a:t>Applied where, select, include, and aggregation methods</a:t>
            </a:r>
          </a:p>
          <a:p>
            <a:r>
              <a:rPr lang="en-GB" cap="none" dirty="0">
                <a:latin typeface="Arial" panose="020B0604020202020204" pitchFamily="34" charset="0"/>
                <a:cs typeface="Arial" panose="020B0604020202020204" pitchFamily="34" charset="0"/>
              </a:rPr>
              <a:t>Ensured optimized queries by projecting only required fields</a:t>
            </a:r>
            <a:endParaRPr lang="en-US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C74FFE-D431-722D-8FB4-000D615275BA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6375400" y="518459"/>
            <a:ext cx="3649663" cy="21596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23B82C-A5F5-BBF0-79B2-71A290B5D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5956" y="2993763"/>
            <a:ext cx="3744913" cy="21030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B5A648-71B1-02C4-DA24-0BD061FF4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07" y="4386365"/>
            <a:ext cx="2758481" cy="16646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5730FD-2B05-92B3-37EB-796231644F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0378" y="4083875"/>
            <a:ext cx="4265644" cy="196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17988"/>
            <a:ext cx="7534656" cy="521110"/>
          </a:xfrm>
        </p:spPr>
        <p:txBody>
          <a:bodyPr/>
          <a:lstStyle/>
          <a:p>
            <a:r>
              <a:rPr lang="en-US" dirty="0"/>
              <a:t>Results and Achievement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8541" y="1002890"/>
            <a:ext cx="6985819" cy="553137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Successfully developed a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secure full-stack Loan Management System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using ASP.NET Core and Angular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Implemented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JWT-based authentication and role-based authorization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for Admin, Loan Officer, and Customer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Automated the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complete loan lifecycle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from application to approval, EMI generation, and closure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Enabled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real-time loan tracking, EMI schedules, and overdue monitoring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Achieved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clean data handling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using Entity Framework Core and LINQ queries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Built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interactive dashboards and reports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for better decision-making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Ensured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scalable, maintainable, and secure architecture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following industry best practices</a:t>
            </a:r>
          </a:p>
        </p:txBody>
      </p:sp>
      <p:pic>
        <p:nvPicPr>
          <p:cNvPr id="15" name="Picture Placeholder 14" descr="A person in an apron holding a computer">
            <a:extLst>
              <a:ext uri="{FF2B5EF4-FFF2-40B4-BE49-F238E27FC236}">
                <a16:creationId xmlns:a16="http://schemas.microsoft.com/office/drawing/2014/main" id="{48869757-F643-C013-26AA-3DDE950800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31" r="331"/>
          <a:stretch/>
        </p:blipFill>
        <p:spPr>
          <a:xfrm>
            <a:off x="7623125" y="-20757"/>
            <a:ext cx="4589511" cy="6555026"/>
          </a:xfrm>
        </p:spPr>
      </p:pic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783EDF-4C26-ACCC-7D64-A2D56150E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230803"/>
            <a:ext cx="5557837" cy="31981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AE66A9-B251-7B73-2C03-F91BECCAF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038" y="230803"/>
            <a:ext cx="6078536" cy="31981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FD1167E-23FB-A8B6-F22A-F247DD787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2788" y="3583347"/>
            <a:ext cx="5753100" cy="304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D6B3A-925F-514B-209F-6646FD789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5C088-9BAD-57DF-4C7D-68CCF364B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D66FC5-B6DB-C34F-01D7-6654014BD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6" y="195243"/>
            <a:ext cx="5953337" cy="30390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0FD001-BCB0-675A-D69E-2A8A3D884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279" y="195243"/>
            <a:ext cx="5665787" cy="30184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1A77B7-3F4B-EB91-CF90-585EC50C56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1" y="3367630"/>
            <a:ext cx="5946372" cy="28449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48EB55-9E83-5CDC-ABC9-3D9BBF7206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1283" y="3367630"/>
            <a:ext cx="5650783" cy="284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29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5B405-9A1B-48F6-FBF0-9790DF824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FCC58-19B5-DC71-E24B-921C10646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F1B7B9-CE7F-840D-F77D-56A96EEA5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1" y="195243"/>
            <a:ext cx="5946372" cy="3018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B3EBAB-B940-44A1-AC91-D813F791E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5244"/>
            <a:ext cx="5756066" cy="30184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1D03CD-AC5D-18FF-41AD-70A6622FB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1" y="3367630"/>
            <a:ext cx="5756066" cy="28449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2A7B02-CCB8-3CEB-9D56-2A50D0092E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51" y="3367631"/>
            <a:ext cx="5946372" cy="284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36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24276-1144-4F97-63E8-DCB730D91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B0CD5-F62D-B563-8DC3-18B9C02FD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35DB5C-88CE-155F-8185-EB2250E0D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1" y="195243"/>
            <a:ext cx="5960482" cy="3018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57FE44-4A44-6241-65A7-DCE22549C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7150"/>
            <a:ext cx="5756067" cy="30065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4523AA-FF10-7244-5567-CAF507AB8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1" y="3367630"/>
            <a:ext cx="5960482" cy="28771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7B2018-4E36-D954-D37A-74B54E4465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2" y="3367631"/>
            <a:ext cx="5756066" cy="287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05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r>
              <a:rPr lang="en-US" dirty="0"/>
              <a:t>Lathika </a:t>
            </a:r>
            <a:r>
              <a:rPr lang="en-US" dirty="0" err="1"/>
              <a:t>gs</a:t>
            </a:r>
            <a:r>
              <a:rPr lang="en-US" dirty="0"/>
              <a:t> (vit Chennai)</a:t>
            </a:r>
          </a:p>
          <a:p>
            <a:r>
              <a:rPr lang="en-US" cap="none" dirty="0"/>
              <a:t>lathikasabari4@gmail.com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{5E7BB0A5-82AF-4E1F-8D07-D09342242560}tf11964407_win32</Template>
  <TotalTime>528</TotalTime>
  <Words>531</Words>
  <Application>Microsoft Office PowerPoint</Application>
  <PresentationFormat>Widescreen</PresentationFormat>
  <Paragraphs>107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Courier New</vt:lpstr>
      <vt:lpstr>Gill Sans Nova Light</vt:lpstr>
      <vt:lpstr>Sagona Book</vt:lpstr>
      <vt:lpstr>Custom</vt:lpstr>
      <vt:lpstr>Loan Management System  Lathika GS</vt:lpstr>
      <vt:lpstr>Problem Statement</vt:lpstr>
      <vt:lpstr>Proposed Solution</vt:lpstr>
      <vt:lpstr>Project Overview</vt:lpstr>
      <vt:lpstr>Architecture Diagram</vt:lpstr>
      <vt:lpstr>Key Features</vt:lpstr>
      <vt:lpstr>Database Diagram</vt:lpstr>
      <vt:lpstr>Testing</vt:lpstr>
      <vt:lpstr>LINQ Usage</vt:lpstr>
      <vt:lpstr>Results and Achievement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Lathika GS</dc:creator>
  <cp:lastModifiedBy>Lathika GS</cp:lastModifiedBy>
  <cp:revision>1</cp:revision>
  <dcterms:created xsi:type="dcterms:W3CDTF">2026-01-06T07:07:13Z</dcterms:created>
  <dcterms:modified xsi:type="dcterms:W3CDTF">2026-01-06T15:55:13Z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